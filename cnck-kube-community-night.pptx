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nck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3200400" cy="825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B365D"/>
                </a:solidFill>
                <a:latin typeface="Arial"/>
              </a:defRPr>
            </a:pPr>
            <a:r>
              <a:t>CNCK Kube Community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w/Kuberstronaut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55E6E"/>
                </a:solidFill>
                <a:latin typeface="Arial"/>
              </a:defRPr>
            </a:pPr>
            <a:r>
              <a:t>2026. 06. 12 (금) 19:00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Cloud Native Community Korea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0487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CNCK는 한국의 클라우드 네이티브 커뮤니티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4495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오늘은 CNCK의 첫 오프라인 모임!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8503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Kubestronaut 스웨그 증정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2511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206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생태계 유저 네트워킹</a:t>
            </a:r>
          </a:p>
        </p:txBody>
      </p:sp>
      <p:pic>
        <p:nvPicPr>
          <p:cNvPr id="14" name="Picture 13" descr="white-bg-cnck-logo-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029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TIMETABLE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타임테이블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0698480" cy="53035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18:30 – 19:00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등록 · 셀프 명찰 작성 · 샌드위치 픽업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19:00 – 19:15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871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Opening · CNCK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08376"/>
            <a:ext cx="10698480" cy="53035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19:15 – 19:35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5409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자기소개 · 아이스브레이킹 (밸런스 게임)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20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712464"/>
            <a:ext cx="45720" cy="804672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19:35 – 20:05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044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30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2102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Kubestronaut Swag Ceremony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879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Kubestronaut에게 물어봐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09160"/>
            <a:ext cx="10698480" cy="1645919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4846320"/>
            <a:ext cx="45720" cy="137160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21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20:05 – 21:30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3218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85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754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네트워킹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3218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8887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단체 사진 (21:00)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ATTENDEES · 사전 설문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우리의 관심사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909A"/>
                </a:solidFill>
                <a:latin typeface="Arial"/>
              </a:defRPr>
            </a:pPr>
            <a:r>
              <a:t>참석자 25명에게 물었습니다</a:t>
            </a:r>
          </a:p>
        </p:txBody>
      </p:sp>
      <p:pic>
        <p:nvPicPr>
          <p:cNvPr id="7" name="Picture 6" descr="cnck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74519" y="3493008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B365D"/>
                </a:solidFill>
                <a:latin typeface="Arial"/>
              </a:rPr>
              <a:t>k8s</a:t>
            </a:r>
          </a:p>
          <a:p>
            <a:pPr algn="ctr"/>
            <a:r>
              <a:rPr sz="1400">
                <a:solidFill>
                  <a:srgbClr val="555E6E"/>
                </a:solidFill>
                <a:latin typeface="Arial"/>
              </a:rPr>
              <a:t>25명 중 17명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329184" cy="329184"/>
          </a:xfrm>
          <a:prstGeom prst="round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2860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17건 · 41%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35224"/>
            <a:ext cx="329184" cy="329184"/>
          </a:xfrm>
          <a:prstGeom prst="roundRect">
            <a:avLst/>
          </a:prstGeom>
          <a:solidFill>
            <a:srgbClr val="34A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88950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eBPF · 네트워킹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889504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8건 ·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538728"/>
            <a:ext cx="329184" cy="329184"/>
          </a:xfrm>
          <a:prstGeom prst="roundRect">
            <a:avLst/>
          </a:prstGeom>
          <a:solidFill>
            <a:srgbClr val="4A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9300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493008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5건 · 12%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142232"/>
            <a:ext cx="329184" cy="329184"/>
          </a:xfrm>
          <a:prstGeom prst="round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9651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CNCK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09651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3건 · 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745736"/>
            <a:ext cx="329184" cy="329184"/>
          </a:xfrm>
          <a:prstGeom prst="round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70001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OpenStack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700016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2건 · 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5349240"/>
            <a:ext cx="329184" cy="329184"/>
          </a:xfrm>
          <a:prstGeom prst="roundRect">
            <a:avLst/>
          </a:prstGeom>
          <a:solidFill>
            <a:srgbClr val="88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3035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30352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6건 ·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94360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* 복수 응답을 각각 집계 (총 41건)</a:t>
            </a:r>
            <a:br/>
            <a:r>
              <a:t>* 기타: vLLM · ArgoCD · Container · Ecosystem · Kubestronaut · CKA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ABOUT CNCK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4487" y="960120"/>
            <a:ext cx="4389120" cy="4389120"/>
          </a:xfrm>
          <a:prstGeom prst="roundRect">
            <a:avLst/>
          </a:prstGeom>
          <a:noFill/>
          <a:ln w="190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nck-logo-vertical-kore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7" y="132588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E6E"/>
                </a:solidFill>
                <a:latin typeface="Arial"/>
              </a:defRPr>
            </a:pPr>
            <a:r>
              <a:t>한국의 클라우드 네이티브 커뮤니티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SELF-INTRO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1B365D"/>
                </a:solidFill>
                <a:latin typeface="Arial"/>
              </a:defRPr>
            </a:pPr>
            <a:r>
              <a:t>자기소개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80CC"/>
                </a:solidFill>
                <a:latin typeface="Arial"/>
              </a:defRPr>
            </a:pPr>
            <a:r>
              <a:t>한 분씩 돌아가며, 30초 자기소개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이름 · 닉네임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뭐라고 부르면 될까요?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3864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3864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직무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무슨 일을 하시나요?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관심 기술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요즘 빠진 주제 (k8s? eBPF?)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8552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8552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오늘 한마디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기대하는 것 한 가지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909A"/>
                </a:solidFill>
                <a:latin typeface="Arial"/>
              </a:defRPr>
            </a:pPr>
            <a:r>
              <a:t>편하게, 부담 없이!  서로 인사하며 시작해요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365D"/>
                </a:solidFill>
                <a:latin typeface="Arial"/>
              </a:defRPr>
            </a:pPr>
            <a:r>
              <a:t>CNCK 밸런스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80CC"/>
                </a:solidFill>
                <a:latin typeface="Arial"/>
              </a:defRPr>
            </a:pPr>
            <a:r>
              <a:t>오늘의 아이스브레이킹</a:t>
            </a:r>
          </a:p>
        </p:txBody>
      </p:sp>
      <p:pic>
        <p:nvPicPr>
          <p:cNvPr id="7" name="Picture 6" descr="kubeCommunityNight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233172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E6E"/>
                </a:solidFill>
                <a:latin typeface="Arial"/>
              </a:defRPr>
            </a:pPr>
            <a:r>
              <a:t>둘 중 하나만! 골라서 이유를 함께 이야기해요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다시 태어난다면?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인프라/플랫폼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엔지니어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프론트엔드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엔지니어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끔찍한 상황은?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주석·인수인계 없는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레거시 유지보수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매일 기획·아키텍처가 바뀌는</a:t>
            </a:r>
          </a:p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신규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어떤 삶?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연봉 동결 +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칼퇴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연봉 +30% +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잦은 야근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어떤 프로젝트?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완벽한 문서가 있는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재미없는 프로젝트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문서 없는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재밌는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평생 하나만?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평생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한 언어만 쓰기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매년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새 언어 강제 학습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근무 환경은?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리모트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출근하지만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점심·간식 무제한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어떤 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코드리뷰 빡센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시니어와 일하기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리뷰 없이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다 통과되는 팀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내 코드의 운명?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내 코드가 전부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오픈소스로 공개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평생 비공개지만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아무도 안 봐줌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무서운 장애?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etcd가 죽었다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DNS가 죽었다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평생 하나만?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Arial"/>
              </a:defRPr>
            </a:pPr>
            <a:r>
              <a:t>kubectl CLI만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대시보드 GUI만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미운 동료?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Arial"/>
              </a:defRPr>
            </a:pPr>
            <a:r>
              <a:t>태그는 :latest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Arial"/>
              </a:defRPr>
            </a:pPr>
            <a:r>
              <a:t>태그는 :final2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금요일 오후 배포?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지금 바로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배포 강행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월요일 아침까지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기다리기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지옥인 디버깅?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YAML 들여쓰기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한 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Helm 템플릿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미궁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장애 회고는?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정석 포스트모템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재시작하니 됨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AI와 함께라면?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AI 코드 리뷰만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내가 직접 디버깅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0E8F7"/>
                </a:solidFill>
                <a:latin typeface="Arial"/>
              </a:defRPr>
            </a:pPr>
            <a:r>
              <a:t>Kubestronaut Swag Ceremony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Arial"/>
              </a:defRPr>
            </a:pPr>
            <a:r>
              <a:t>축하합니다!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CNCF 자격증을 모두 취득한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t>Kubestronaut 여러분을 축하합니다!</a:t>
            </a:r>
          </a:p>
        </p:txBody>
      </p:sp>
      <p:pic>
        <p:nvPicPr>
          <p:cNvPr id="10" name="Picture 9" descr="golden-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010" y="3931920"/>
            <a:ext cx="2468880" cy="2468880"/>
          </a:xfrm>
          <a:prstGeom prst="rect">
            <a:avLst/>
          </a:prstGeom>
        </p:spPr>
      </p:pic>
      <p:pic>
        <p:nvPicPr>
          <p:cNvPr id="11" name="Picture 10" descr="kubestronaut-stacked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970" y="4274820"/>
            <a:ext cx="2122714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D4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01E"/>
                </a:solidFill>
                <a:latin typeface="Arial"/>
              </a:defRPr>
            </a:pPr>
            <a:r>
              <a:t>GOLDEN KUBESTRONAUT</a:t>
            </a:r>
          </a:p>
        </p:txBody>
      </p:sp>
      <p:pic>
        <p:nvPicPr>
          <p:cNvPr id="8" name="Picture 7" descr="golden-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47" y="1325880"/>
            <a:ext cx="20574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명건우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DD9A"/>
                </a:solidFill>
                <a:latin typeface="Arial"/>
              </a:defRPr>
            </a:pPr>
            <a:r>
              <a:t>Golden Kubestronaut 등극을 축하합니다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D4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01E"/>
                </a:solidFill>
                <a:latin typeface="Arial"/>
              </a:defRPr>
            </a:pPr>
            <a:r>
              <a:t>GOLDEN KUBESTRONAUT</a:t>
            </a:r>
          </a:p>
        </p:txBody>
      </p:sp>
      <p:pic>
        <p:nvPicPr>
          <p:cNvPr id="8" name="Picture 7" descr="golden-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47" y="1325880"/>
            <a:ext cx="20574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박재호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DD9A"/>
                </a:solidFill>
                <a:latin typeface="Arial"/>
              </a:defRPr>
            </a:pPr>
            <a:r>
              <a:t>Golden Kubestronaut 등극을 축하합니다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김용우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박지원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배성현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이현규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정종민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최보현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허태무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MINI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Kubestronaut에게 물어봐!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준비자들의 진짜 궁금증, 합격자에게 직접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자격증(CKA·CKAD·CKS 등) 준비할 때 나만의 합격 꿀팁이 있다면?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공부하면서 멘탈이 흔들릴 때 어떻게 극복했나요?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Kubestronaut이 되고 나서 링크드인 DM이 정말 많이 오나요?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5개 중 실무에 가장 도움 된 자격증 vs 가장 "시험용"이었던 자격증은?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체감 난이도 순위를 매긴다면? CKS가 진짜 제일 어렵나요?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MINI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Kubestronaut에게 물어봐!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준비자들의 진짜 궁금증, 합격자에게 직접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5개 다 따는 데 총 비용·기간은 얼마나? 재응시 경험 있나요?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killer.sh 같은 모의시험, 안 보고도 붙을 수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시험 도중 가장 당황했던 순간은?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영어 시험인데, 영어 부담은 어느 정도였나요?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회사가 자격증을 알아주나요? 연봉·이직에 실제 영향이 있었나요?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MINI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Kubestronaut에게 물어봐!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준비자들의 진짜 궁금증, 합격자에게 직접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"실무 경험이면 충분하지 자격증은 필요 없다"는 의견엔 어떻게 생각하세요?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비전공자·주니어도 KCNA부터 시작하면 따라갈 수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Kubestronaut 다음, 노리는 목표나 자격증이 있다면?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네트워킹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54864" cy="91440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E6E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66160"/>
            <a:ext cx="54864" cy="91440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65D"/>
                </a:solidFill>
                <a:latin typeface="Arial"/>
              </a:defRPr>
            </a:pPr>
            <a:r>
              <a:t>자유로운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2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E6E"/>
                </a:solidFill>
                <a:latin typeface="Arial"/>
              </a:defRPr>
            </a:pPr>
            <a:r>
              <a:t>관심사별로 자유롭게 대화하는 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46320"/>
            <a:ext cx="54864" cy="91440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846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65D"/>
                </a:solidFill>
                <a:latin typeface="Arial"/>
              </a:defRPr>
            </a:pPr>
            <a:r>
              <a:t>커리어 이야기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E6E"/>
                </a:solidFill>
                <a:latin typeface="Arial"/>
              </a:defRPr>
            </a:pPr>
            <a:r>
              <a:t>현업 경험과 고민을 함께 나눠요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20:05 – 21:00  |  55분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인프라 엔지니어인데 개발 역량을 얼마나 키워야 할지 모르겠어요.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AI 공부를 해야 할까요? 한다면 어디까지?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쿠버네티스를 더 깊이 팔지, 플랫폼/AI로 넓힐지 갈림길이에요.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우리 회사는 아직 온프렘인데, 클라우드 경험을 어떻게 쌓죠?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주니어인데 K8s 같은 큰 걸 지금 공부하는 게 맞을까요?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사이드 프로젝트 vs 자격증, 시간이 한정적인데 뭐부터?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커뮤니티 활동이 커리어에 진짜 도움이 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이직 면접에서 쿠버네티스 경험을 어떻게 어필하면 좋을까요?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AI가 운영·인프라 직무를 결국 대체할까요?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회사에서 나만 클라우드 네이티브에 관심 있어요. 좀 외롭습니다.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연차 대비 깊이가 부족한 것 같아 조급해요.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자격증은 땄는데 막상 실무에서 어디까지 써먹어야 할지 모르겠어요.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B365D"/>
                </a:solidFill>
                <a:latin typeface="Arial"/>
              </a:defRPr>
            </a:pPr>
            <a:r>
              <a:t>감사합니다!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0CC"/>
                </a:solidFill>
                <a:latin typeface="Arial"/>
              </a:defRPr>
            </a:pPr>
            <a:r>
              <a:t>CNCK 첫 오프라인 모임에 함께해주셔서 감사합니다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840480"/>
            <a:ext cx="3931920" cy="2743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09A"/>
                </a:solidFill>
                <a:latin typeface="Arial"/>
              </a:defRPr>
            </a:pPr>
            <a:r>
              <a:t>다음 일정은 CNCK 공식 채널에서 확인하세요</a:t>
            </a:r>
          </a:p>
        </p:txBody>
      </p:sp>
      <p:pic>
        <p:nvPicPr>
          <p:cNvPr id="9" name="Picture 8" descr="white-bg-cnck-logo-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" y="1005840"/>
            <a:ext cx="182880" cy="18288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148840"/>
            <a:ext cx="146304" cy="146304"/>
          </a:xfrm>
          <a:prstGeom prst="ellipse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86032" y="1005840"/>
            <a:ext cx="182880" cy="182880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75720" y="2148840"/>
            <a:ext cx="146304" cy="146304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371600" y="5029200"/>
            <a:ext cx="146304" cy="146304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" y="5852160"/>
            <a:ext cx="182880" cy="182880"/>
          </a:xfrm>
          <a:prstGeom prst="ellipse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6263640"/>
            <a:ext cx="137160" cy="137160"/>
          </a:xfrm>
          <a:prstGeom prst="ellipse">
            <a:avLst/>
          </a:prstGeom>
          <a:solidFill>
            <a:srgbClr val="D0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11430000" y="411480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5029200"/>
            <a:ext cx="146304" cy="146304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67160" y="5852160"/>
            <a:ext cx="182880" cy="182880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0287000" y="6263640"/>
            <a:ext cx="137160" cy="13716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nck-banner-color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502920"/>
            <a:ext cx="10424160" cy="30759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3931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B365D"/>
                </a:solidFill>
                <a:latin typeface="Arial"/>
              </a:defRPr>
            </a:pPr>
            <a:r>
              <a:t>CNCK Kube Community 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4956048"/>
            <a:ext cx="2286000" cy="4114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0CC"/>
                </a:solidFill>
                <a:latin typeface="Arial"/>
              </a:defRPr>
            </a:pPr>
            <a:r>
              <a:t>2026. 06. 12 (금)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09A"/>
                </a:solidFill>
                <a:latin typeface="Arial"/>
              </a:defRPr>
            </a:pPr>
            <a:r>
              <a:t>#CNCK    #KubeCommunityNight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